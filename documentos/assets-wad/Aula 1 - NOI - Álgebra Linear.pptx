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Space Mono"/>
      <p:regular r:id="rId25"/>
      <p:bold r:id="rId26"/>
      <p:italic r:id="rId27"/>
      <p:boldItalic r:id="rId28"/>
    </p:embeddedFont>
    <p:embeddedFont>
      <p:font typeface="Manrope"/>
      <p:regular r:id="rId29"/>
      <p:bold r:id="rId30"/>
    </p:embeddedFont>
    <p:embeddedFont>
      <p:font typeface="Helvetica Neue"/>
      <p:regular r:id="rId31"/>
      <p:bold r:id="rId32"/>
      <p:italic r:id="rId33"/>
      <p:boldItalic r:id="rId34"/>
    </p:embeddedFont>
    <p:embeddedFont>
      <p:font typeface="Helvetica Neue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Mono-bold.fntdata"/><Relationship Id="rId25" Type="http://schemas.openxmlformats.org/officeDocument/2006/relationships/font" Target="fonts/SpaceMono-regular.fntdata"/><Relationship Id="rId28" Type="http://schemas.openxmlformats.org/officeDocument/2006/relationships/font" Target="fonts/SpaceMono-boldItalic.fntdata"/><Relationship Id="rId27" Type="http://schemas.openxmlformats.org/officeDocument/2006/relationships/font" Target="fonts/Space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nrop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regular.fntdata"/><Relationship Id="rId30" Type="http://schemas.openxmlformats.org/officeDocument/2006/relationships/font" Target="fonts/Manrope-bold.fntdata"/><Relationship Id="rId11" Type="http://schemas.openxmlformats.org/officeDocument/2006/relationships/slide" Target="slides/slide6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8.xml"/><Relationship Id="rId35" Type="http://schemas.openxmlformats.org/officeDocument/2006/relationships/font" Target="fonts/HelveticaNeueLight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Light-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HelveticaNeue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381447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7a00585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b7a00585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7a00585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7a00585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b7a005854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b7a005854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7a005854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b7a00585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447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b7a005854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8b7a005854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b7a005854_0_4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8b7a005854_0_4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b7a005854_0_4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8b7a005854_0_4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b7a005854_0_4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8b7a005854_0_4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b7a005854_0_4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g38b7a005854_0_4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b7a005854_0_4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8b7a005854_0_4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b7a005854_0_4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8b7a005854_0_4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b7a005854_0_4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8b7a005854_0_4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7a005854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8b7a005854_0_4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1 1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ITLE_4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ITLE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481" y="4484766"/>
            <a:ext cx="701260" cy="38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 2 1 1 1 1 1 3">
  <p:cSld name="ONE_COLUMN_TEXT_1_2_1_1_1_1_1_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 rotWithShape="1">
          <a:blip r:embed="rId2">
            <a:alphaModFix/>
          </a:blip>
          <a:srcRect b="30" l="0" r="0" t="30"/>
          <a:stretch/>
        </p:blipFill>
        <p:spPr>
          <a:xfrm>
            <a:off x="8219813" y="191250"/>
            <a:ext cx="73159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 2 1 1 1 1">
  <p:cSld name="ONE_COLUMN_TEXT_1_2_1_1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4500563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0" y="0"/>
            <a:ext cx="90600" cy="51435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2">
            <a:alphaModFix/>
          </a:blip>
          <a:srcRect b="-1895" l="0" r="0" t="0"/>
          <a:stretch/>
        </p:blipFill>
        <p:spPr>
          <a:xfrm>
            <a:off x="8429988" y="138725"/>
            <a:ext cx="574550" cy="43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9886" t="0"/>
          <a:stretch/>
        </p:blipFill>
        <p:spPr>
          <a:xfrm rot="3442371">
            <a:off x="-1053737" y="3731912"/>
            <a:ext cx="3041912" cy="207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48.png"/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3" Type="http://schemas.openxmlformats.org/officeDocument/2006/relationships/image" Target="../media/image16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9" Type="http://schemas.openxmlformats.org/officeDocument/2006/relationships/image" Target="../media/image4.png"/><Relationship Id="rId15" Type="http://schemas.openxmlformats.org/officeDocument/2006/relationships/image" Target="../media/image10.png"/><Relationship Id="rId14" Type="http://schemas.openxmlformats.org/officeDocument/2006/relationships/image" Target="../media/image14.png"/><Relationship Id="rId17" Type="http://schemas.openxmlformats.org/officeDocument/2006/relationships/image" Target="../media/image15.png"/><Relationship Id="rId16" Type="http://schemas.openxmlformats.org/officeDocument/2006/relationships/image" Target="../media/image36.png"/><Relationship Id="rId5" Type="http://schemas.openxmlformats.org/officeDocument/2006/relationships/image" Target="../media/image8.png"/><Relationship Id="rId19" Type="http://schemas.openxmlformats.org/officeDocument/2006/relationships/image" Target="../media/image18.png"/><Relationship Id="rId6" Type="http://schemas.openxmlformats.org/officeDocument/2006/relationships/image" Target="../media/image46.png"/><Relationship Id="rId18" Type="http://schemas.openxmlformats.org/officeDocument/2006/relationships/image" Target="../media/image37.png"/><Relationship Id="rId7" Type="http://schemas.openxmlformats.org/officeDocument/2006/relationships/image" Target="../media/image7.png"/><Relationship Id="rId8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23.png"/><Relationship Id="rId5" Type="http://schemas.openxmlformats.org/officeDocument/2006/relationships/hyperlink" Target="https://www.linkedin.com/posts/debarghyadas_what-do-the-smartest-kids-in-the-world-do-activity-7455095822720897024-2kfT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jpg"/><Relationship Id="rId4" Type="http://schemas.openxmlformats.org/officeDocument/2006/relationships/image" Target="../media/image35.jpg"/><Relationship Id="rId9" Type="http://schemas.openxmlformats.org/officeDocument/2006/relationships/image" Target="../media/image47.jpg"/><Relationship Id="rId5" Type="http://schemas.openxmlformats.org/officeDocument/2006/relationships/image" Target="../media/image42.jpg"/><Relationship Id="rId6" Type="http://schemas.openxmlformats.org/officeDocument/2006/relationships/image" Target="../media/image40.jpg"/><Relationship Id="rId7" Type="http://schemas.openxmlformats.org/officeDocument/2006/relationships/image" Target="../media/image37.png"/><Relationship Id="rId8" Type="http://schemas.openxmlformats.org/officeDocument/2006/relationships/image" Target="../media/image3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Relationship Id="rId6" Type="http://schemas.openxmlformats.org/officeDocument/2006/relationships/image" Target="../media/image39.png"/><Relationship Id="rId7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977900" y="2224775"/>
            <a:ext cx="55146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lang="pt-BR" sz="36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Matemática e Olimpíadas</a:t>
            </a:r>
            <a:endParaRPr b="0" i="0" sz="3600" u="none" cap="none" strike="noStrike">
              <a:solidFill>
                <a:srgbClr val="2E264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251428" y="2982357"/>
            <a:ext cx="5231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b="1" lang="pt-BR" sz="1500">
                <a:latin typeface="Manrope"/>
                <a:ea typeface="Manrope"/>
                <a:cs typeface="Manrope"/>
                <a:sym typeface="Manrope"/>
              </a:rPr>
              <a:t>ÁLGEBRA LINEAR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2886339" y="2530275"/>
            <a:ext cx="76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Pensi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1427" y="2353174"/>
            <a:ext cx="383488" cy="3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2814" y="2422825"/>
            <a:ext cx="520563" cy="520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1402" y="1708288"/>
            <a:ext cx="763651" cy="2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40577" y="1618317"/>
            <a:ext cx="520575" cy="52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7971" y="815746"/>
            <a:ext cx="520575" cy="52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23277" y="774001"/>
            <a:ext cx="550875" cy="529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72640" y="2475627"/>
            <a:ext cx="632913" cy="346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112" name="Google Shape;112;p19"/>
          <p:cNvPicPr preferRelativeResize="0"/>
          <p:nvPr/>
        </p:nvPicPr>
        <p:blipFill rotWithShape="1">
          <a:blip r:embed="rId10">
            <a:alphaModFix/>
          </a:blip>
          <a:srcRect b="0" l="0" r="0" t="35488"/>
          <a:stretch/>
        </p:blipFill>
        <p:spPr>
          <a:xfrm>
            <a:off x="7437599" y="1540713"/>
            <a:ext cx="818850" cy="635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97027" y="1618337"/>
            <a:ext cx="818854" cy="3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5552" y="1495702"/>
            <a:ext cx="632918" cy="6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96166" y="776693"/>
            <a:ext cx="1005384" cy="3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86739" y="2357602"/>
            <a:ext cx="520575" cy="635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25366" y="2425212"/>
            <a:ext cx="1396848" cy="49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2057079" y="3543266"/>
            <a:ext cx="42588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JORDAN PIVA</a:t>
            </a:r>
            <a:endParaRPr b="1" i="0" sz="1800" u="none" cap="none" strike="noStrike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cxnSp>
        <p:nvCxnSpPr>
          <p:cNvPr id="119" name="Google Shape;119;p19"/>
          <p:cNvCxnSpPr/>
          <p:nvPr/>
        </p:nvCxnSpPr>
        <p:spPr>
          <a:xfrm>
            <a:off x="2081754" y="4008651"/>
            <a:ext cx="5313300" cy="0"/>
          </a:xfrm>
          <a:prstGeom prst="straightConnector1">
            <a:avLst/>
          </a:prstGeom>
          <a:noFill/>
          <a:ln cap="flat" cmpd="sng" w="28575">
            <a:solidFill>
              <a:srgbClr val="FF45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9"/>
          <p:cNvSpPr txBox="1"/>
          <p:nvPr/>
        </p:nvSpPr>
        <p:spPr>
          <a:xfrm>
            <a:off x="2085975" y="4132325"/>
            <a:ext cx="1794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j</a:t>
            </a:r>
            <a:r>
              <a:rPr b="1" lang="pt-BR" sz="1100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fpivamat</a:t>
            </a:r>
            <a:r>
              <a:rPr b="1" i="0" lang="pt-BR" sz="1100" u="none" cap="none" strike="noStrike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@</a:t>
            </a:r>
            <a:r>
              <a:rPr b="1" lang="pt-BR" sz="1100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gmail</a:t>
            </a:r>
            <a:r>
              <a:rPr b="1" i="0" lang="pt-BR" sz="1100" u="none" cap="none" strike="noStrike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.</a:t>
            </a:r>
            <a:r>
              <a:rPr b="1" lang="pt-BR" sz="1100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com</a:t>
            </a:r>
            <a:r>
              <a:rPr b="1" i="0" lang="pt-BR" sz="1100" u="none" cap="none" strike="noStrike">
                <a:solidFill>
                  <a:schemeClr val="dk1"/>
                </a:solidFill>
                <a:highlight>
                  <a:srgbClr val="FF4545"/>
                </a:highlight>
                <a:latin typeface="Manrope"/>
                <a:ea typeface="Manrope"/>
                <a:cs typeface="Manrope"/>
                <a:sym typeface="Manrope"/>
              </a:rPr>
              <a:t>.br</a:t>
            </a:r>
            <a:endParaRPr b="1" i="0" sz="1100" u="none" cap="none" strike="noStrike">
              <a:solidFill>
                <a:schemeClr val="dk1"/>
              </a:solidFill>
              <a:highlight>
                <a:srgbClr val="FF4545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7349900" y="3345500"/>
            <a:ext cx="1177800" cy="13263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42028" rotWithShape="0" algn="bl" dir="5400000" dist="14009">
              <a:srgbClr val="000000">
                <a:alpha val="49410"/>
              </a:srgbClr>
            </a:outerShdw>
          </a:effectLst>
        </p:spPr>
        <p:txBody>
          <a:bodyPr anchorCtr="0" anchor="ctr" bIns="33625" lIns="33625" spcFirstLastPara="1" rIns="33625" wrap="square" tIns="33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"/>
              <a:buFont typeface="Arial"/>
              <a:buNone/>
            </a:pPr>
            <a:r>
              <a:t/>
            </a:r>
            <a:endParaRPr b="0" i="0" sz="5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914363" y="3157862"/>
            <a:ext cx="818850" cy="614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910527" y="778537"/>
            <a:ext cx="595025" cy="5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50382" y="2422825"/>
            <a:ext cx="1177801" cy="117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436104" y="3494025"/>
            <a:ext cx="1005375" cy="102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61500" y="589099"/>
            <a:ext cx="1327950" cy="130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/>
        </p:nvSpPr>
        <p:spPr>
          <a:xfrm>
            <a:off x="1581103" y="1265290"/>
            <a:ext cx="523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Matemática e mercado de trabalho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941521" y="1196399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858600" y="1318223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941505" y="192394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941505" y="192394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941518" y="2756814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941518" y="2756814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858583" y="204576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858597" y="2878638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3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581099" y="4352669"/>
            <a:ext cx="7090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None/>
            </a:pPr>
            <a:r>
              <a:rPr b="1" lang="pt-BR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Álgebra Linear - Fundamentos de Determinantes</a:t>
            </a:r>
            <a:endParaRPr b="1" i="0" sz="1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581099" y="200944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Vantagens de ser olímpico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i="0" lang="pt-BR" sz="2700" u="none" cap="none" strike="noStrike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NOSSA AGENDA DE HOJE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953481" y="353240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953481" y="353240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870560" y="365422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593062" y="284647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None/>
            </a:pPr>
            <a:r>
              <a:rPr lang="pt-BR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Como me preparar?</a:t>
            </a:r>
            <a:endParaRPr b="0" i="0" sz="1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956667" y="427288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956667" y="427288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873746" y="439470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1596248" y="364839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Álgebra Linear - a base de 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Matemática e mercado de trabalho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50" y="1018150"/>
            <a:ext cx="3788925" cy="127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300" y="1845408"/>
            <a:ext cx="4565101" cy="967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300" y="3078700"/>
            <a:ext cx="5020525" cy="17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Matemática e mercado de trabalho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00" y="1434925"/>
            <a:ext cx="2735192" cy="24762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175" y="1416826"/>
            <a:ext cx="2775225" cy="2512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  <p:pic>
        <p:nvPicPr>
          <p:cNvPr id="166" name="Google Shape;1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701" y="1700201"/>
            <a:ext cx="3163000" cy="209173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3"/>
          <p:cNvCxnSpPr/>
          <p:nvPr/>
        </p:nvCxnSpPr>
        <p:spPr>
          <a:xfrm rot="10800000">
            <a:off x="10270319" y="256986"/>
            <a:ext cx="0" cy="4794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72" name="Google Shape;172;p23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O que as empresas procuram?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275" y="1086900"/>
            <a:ext cx="4662301" cy="378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63" y="1432475"/>
            <a:ext cx="5702323" cy="278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2075" y="1175150"/>
            <a:ext cx="2071150" cy="3791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683425" y="4393325"/>
            <a:ext cx="50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u="sng">
                <a:solidFill>
                  <a:schemeClr val="hlink"/>
                </a:solidFill>
                <a:hlinkClick r:id="rId5"/>
              </a:rPr>
              <a:t>https://www.linkedin.com/posts/debarghyadas_what-do-the-smartest-kids-in-the-world-do-activity-7455095822720897024-2kfT/</a:t>
            </a:r>
            <a:endParaRPr sz="800"/>
          </a:p>
        </p:txBody>
      </p:sp>
      <p:sp>
        <p:nvSpPr>
          <p:cNvPr id="181" name="Google Shape;181;p24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Vantagens de ser olímpico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/>
          <p:nvPr/>
        </p:nvSpPr>
        <p:spPr>
          <a:xfrm>
            <a:off x="7017000" y="2869500"/>
            <a:ext cx="2127000" cy="2274000"/>
          </a:xfrm>
          <a:prstGeom prst="rect">
            <a:avLst/>
          </a:prstGeom>
          <a:solidFill>
            <a:srgbClr val="DA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0625" y="2094377"/>
            <a:ext cx="2127000" cy="1906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525" y="1488950"/>
            <a:ext cx="5608624" cy="31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Quero seguir pesquisa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/>
          <p:nvPr/>
        </p:nvSpPr>
        <p:spPr>
          <a:xfrm>
            <a:off x="7475350" y="11825"/>
            <a:ext cx="1659300" cy="5143500"/>
          </a:xfrm>
          <a:prstGeom prst="rect">
            <a:avLst/>
          </a:prstGeom>
          <a:solidFill>
            <a:srgbClr val="2D2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1581103" y="1265290"/>
            <a:ext cx="5231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Putnam and Beyond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941521" y="1196399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858600" y="1318223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1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941505" y="192394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941505" y="192394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941518" y="2756814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941518" y="2756814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858583" y="204576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2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858597" y="2878638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3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1581099" y="4352669"/>
            <a:ext cx="7090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None/>
            </a:pPr>
            <a:r>
              <a:rPr lang="pt-BR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Berkeley Problems in Mathmatics</a:t>
            </a:r>
            <a:endParaRPr i="0" sz="1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1581099" y="200944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Revista Eureka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953481" y="353240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53481" y="353240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870560" y="365422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4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1593062" y="284647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"/>
              <a:buNone/>
            </a:pPr>
            <a:r>
              <a:rPr lang="pt-BR" sz="1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Provas antigas</a:t>
            </a:r>
            <a:endParaRPr b="0" i="0" sz="1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956667" y="427288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956667" y="4272882"/>
            <a:ext cx="475200" cy="475200"/>
          </a:xfrm>
          <a:prstGeom prst="ellipse">
            <a:avLst/>
          </a:prstGeom>
          <a:noFill/>
          <a:ln cap="flat" cmpd="sng" w="19050">
            <a:solidFill>
              <a:srgbClr val="E8494A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873746" y="4394706"/>
            <a:ext cx="64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pace Mono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1596248" y="3648393"/>
            <a:ext cx="693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nrope"/>
              <a:buNone/>
            </a:pPr>
            <a:r>
              <a:rPr lang="pt-BR" sz="1800">
                <a:latin typeface="Manrope"/>
                <a:ea typeface="Manrope"/>
                <a:cs typeface="Manrope"/>
                <a:sym typeface="Manrope"/>
              </a:rPr>
              <a:t>Art of problem Solving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Como me preparar?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9156" y="315175"/>
            <a:ext cx="736168" cy="3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7475350" y="11825"/>
            <a:ext cx="1659300" cy="5143500"/>
          </a:xfrm>
          <a:prstGeom prst="rect">
            <a:avLst/>
          </a:prstGeom>
          <a:solidFill>
            <a:srgbClr val="2D25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414769" y="418808"/>
            <a:ext cx="5890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850" y="987935"/>
            <a:ext cx="2312000" cy="1716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612" y="1151372"/>
            <a:ext cx="2355462" cy="176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325" y="3053275"/>
            <a:ext cx="2355458" cy="17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3058" y="3196350"/>
            <a:ext cx="2355466" cy="17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47675" y="116025"/>
            <a:ext cx="893150" cy="8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1400" y="953625"/>
            <a:ext cx="2288900" cy="171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414769" y="418808"/>
            <a:ext cx="5890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Aguardo fotos!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13900" y="2993425"/>
            <a:ext cx="2355474" cy="1766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89156" y="315175"/>
            <a:ext cx="736168" cy="3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/>
          <p:nvPr/>
        </p:nvSpPr>
        <p:spPr>
          <a:xfrm>
            <a:off x="7017000" y="2869500"/>
            <a:ext cx="2127000" cy="2274000"/>
          </a:xfrm>
          <a:prstGeom prst="rect">
            <a:avLst/>
          </a:prstGeom>
          <a:solidFill>
            <a:srgbClr val="DA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713200" y="673350"/>
            <a:ext cx="61776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Álgebra Linear - A importância do determinante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>
            <a:off x="7017000" y="2869500"/>
            <a:ext cx="2127000" cy="2274000"/>
          </a:xfrm>
          <a:prstGeom prst="rect">
            <a:avLst/>
          </a:prstGeom>
          <a:solidFill>
            <a:srgbClr val="DA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713200" y="673350"/>
            <a:ext cx="61776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Álgebra Linear - A importância do determinante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100" y="2068575"/>
            <a:ext cx="1697776" cy="4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700" y="2719575"/>
            <a:ext cx="1231037" cy="4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3950" y="2022375"/>
            <a:ext cx="937750" cy="3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9155" y="3402550"/>
            <a:ext cx="1414695" cy="33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1575" y="3402549"/>
            <a:ext cx="942225" cy="3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1899175" y="4337750"/>
            <a:ext cx="50208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determinante nos diz se as variáveis são independentes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325" y="113725"/>
            <a:ext cx="7402977" cy="491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0300" y="400450"/>
            <a:ext cx="887225" cy="12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Fundamentos de determinantes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Fundamentos de determinantes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Fundamentos de determinantes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Fundamentos de determinantes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Exercícios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/>
        </p:nvSpPr>
        <p:spPr>
          <a:xfrm>
            <a:off x="713200" y="673350"/>
            <a:ext cx="61776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640"/>
              </a:buClr>
              <a:buSzPts val="2700"/>
              <a:buFont typeface="Manrope"/>
              <a:buNone/>
            </a:pPr>
            <a:r>
              <a:rPr b="1" lang="pt-BR" sz="2700">
                <a:solidFill>
                  <a:srgbClr val="2E2640"/>
                </a:solidFill>
                <a:latin typeface="Manrope"/>
                <a:ea typeface="Manrope"/>
                <a:cs typeface="Manrope"/>
                <a:sym typeface="Manrope"/>
              </a:rPr>
              <a:t>Exercícios - IMC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